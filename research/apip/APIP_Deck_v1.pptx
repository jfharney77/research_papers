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Time-to-Resolution (days)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APIP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Behavioral Drift</c:v>
                  </c:pt>
                  <c:pt idx="1">
                    <c:v>Input Brittleness</c:v>
                  </c:pt>
                  <c:pt idx="2">
                    <c:v>Alignment Creep</c:v>
                  </c:pt>
                  <c:pt idx="3">
                    <c:v>Tool Misuse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9</c:v>
                </c:pt>
                <c:pt idx="2">
                  <c:v>7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Ad-hoc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Behavioral Drift</c:v>
                  </c:pt>
                  <c:pt idx="1">
                    <c:v>Input Brittleness</c:v>
                  </c:pt>
                  <c:pt idx="2">
                    <c:v>Alignment Creep</c:v>
                  </c:pt>
                  <c:pt idx="3">
                    <c:v>Tool Misuse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</c:v>
                </c:pt>
                <c:pt idx="1">
                  <c:v>55</c:v>
                </c:pt>
                <c:pt idx="2">
                  <c:v>22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1E2761">
              <a:alpha val="60000"/>
            </a:srgbClr>
          </a:solidFill>
          <a:ln w="12700">
            <a:solidFill>
              <a:srgbClr val="1E2761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365760"/>
            <a:ext cx="2743200" cy="2743200"/>
          </a:xfrm>
          <a:prstGeom prst="ellipse">
            <a:avLst/>
          </a:prstGeom>
          <a:solidFill>
            <a:srgbClr val="4F9CF9">
              <a:alpha val="20000"/>
            </a:srgbClr>
          </a:solidFill>
          <a:ln w="12700">
            <a:solidFill>
              <a:srgbClr val="4F9CF9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A8D8"/>
                </a:solidFill>
              </a:rPr>
              <a:t>RESEARCH PAPER · ANONYMOUS SUBMISSION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is Underperforming: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2057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Agent Performance Improvement Plans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1280160" cy="457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017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A8D8"/>
                </a:solidFill>
              </a:rPr>
              <a:t>A structured post-deployment remediation lifecycle for production AI agents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4114800"/>
            <a:ext cx="8321040" cy="685800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1330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9CF9"/>
                </a:solidFill>
              </a:rPr>
              <a:t>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0080" y="4462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D8"/>
                </a:solidFill>
              </a:rPr>
              <a:t>Failure Mode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EA8D8"/>
                </a:solidFill>
              </a:rPr>
              <a:t>Categories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97480" y="41330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9CF9"/>
                </a:solidFill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97480" y="4462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D8"/>
                </a:solidFill>
              </a:rPr>
              <a:t>Intervention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EA8D8"/>
                </a:solidFill>
              </a:rPr>
              <a:t>Tiers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41330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9CF9"/>
                </a:solidFill>
              </a:rPr>
              <a:t>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54880" y="4462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D8"/>
                </a:solidFill>
              </a:rPr>
              <a:t>Lifecycle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EA8D8"/>
                </a:solidFill>
              </a:rPr>
              <a:t>Phases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12280" y="41330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9CF9"/>
                </a:solidFill>
              </a:rPr>
              <a:t>32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12280" y="4462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D8"/>
                </a:solidFill>
              </a:rPr>
              <a:t>Academic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EA8D8"/>
                </a:solidFill>
              </a:rPr>
              <a:t>References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Deployment Gap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Current Reality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591056"/>
            <a:ext cx="201168" cy="201168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4533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Pre-deployment eval culture is mature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(benchmarks, red-teaming, RLHF)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112264"/>
            <a:ext cx="201168" cy="201168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6654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Post-deployment: largely ad hoc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633472"/>
            <a:ext cx="201168" cy="201168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58775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Engineers patch prompts. Tickets get filed.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Rollbacks happen informally.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154680"/>
            <a:ext cx="201168" cy="201168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10896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No structured trigger, diagnosis, 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measured recovery criteria.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675888"/>
            <a:ext cx="201168" cy="201168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63016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Agent recovers informally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or is silently replaced.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2412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With APIP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64608" y="1591056"/>
            <a:ext cx="201168" cy="201168"/>
          </a:xfrm>
          <a:prstGeom prst="ellipse">
            <a:avLst/>
          </a:prstGeom>
          <a:solidFill>
            <a:srgbClr val="2EC486"/>
          </a:solidFill>
          <a:ln w="12700">
            <a:solidFill>
              <a:srgbClr val="2EC4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54533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Formal behavioral contract at deployment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64608" y="2112264"/>
            <a:ext cx="201168" cy="201168"/>
          </a:xfrm>
          <a:prstGeom prst="ellipse">
            <a:avLst/>
          </a:prstGeom>
          <a:solidFill>
            <a:srgbClr val="2EC486"/>
          </a:solidFill>
          <a:ln w="12700">
            <a:solidFill>
              <a:srgbClr val="2EC4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206654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Trigger threshold fires automatically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64608" y="2633472"/>
            <a:ext cx="201168" cy="201168"/>
          </a:xfrm>
          <a:prstGeom prst="ellipse">
            <a:avLst/>
          </a:prstGeom>
          <a:solidFill>
            <a:srgbClr val="2EC486"/>
          </a:solidFill>
          <a:ln w="12700">
            <a:solidFill>
              <a:srgbClr val="2EC4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258775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Structured cause attribution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identifies failure mode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64608" y="3154680"/>
            <a:ext cx="201168" cy="201168"/>
          </a:xfrm>
          <a:prstGeom prst="ellipse">
            <a:avLst/>
          </a:prstGeom>
          <a:solidFill>
            <a:srgbClr val="2EC486"/>
          </a:solidFill>
          <a:ln w="12700">
            <a:solidFill>
              <a:srgbClr val="2EC4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10896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Correct intervention tier applied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(not just prompt patching)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64608" y="3675888"/>
            <a:ext cx="201168" cy="201168"/>
          </a:xfrm>
          <a:prstGeom prst="ellipse">
            <a:avLst/>
          </a:prstGeom>
          <a:solidFill>
            <a:srgbClr val="2EC486"/>
          </a:solidFill>
          <a:ln w="12700">
            <a:solidFill>
              <a:srgbClr val="2EC48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363016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Documented audit trail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governance &amp; future reference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A8D8"/>
                </a:solidFill>
              </a:rPr>
              <a:t>Empirical basis: Pan et al. (2025) — most production agent deployments fail or underdeliver, yet little is known about post-release management.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Failure Mode Categories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A8D8"/>
                </a:solidFill>
              </a:rPr>
              <a:t>Each maps to a distinct Kirkpatrick evaluation level and intervention tier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737360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64008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Behavioral Drift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" y="15453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Kirkpatrick L4 · Results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5453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D8"/>
                </a:solidFill>
              </a:rPr>
              <a:t>Tier 2 — RAG / Retrieval Update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1801368"/>
            <a:ext cx="3749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World-state diverges from training context. Stale RAG indices produce outdated policy citations and hallucinated product info.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023360" cy="1737360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Input Brittleness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19472" y="15453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Kirkpatrick L2 · Capability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19472" y="15453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D8"/>
                </a:solidFill>
              </a:rPr>
              <a:t>Tier 1 (examples) or Tier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19472" y="1801368"/>
            <a:ext cx="3749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Catastrophic failure on a specific input subclass hidden by strong aggregate metrics. Requires disaggregated evaluation to detect.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023360" cy="1737360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64008" cy="1737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Alignment Creep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0352" y="33284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</a:rPr>
              <a:t>Kirkpatrick L3 · Behavior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" y="33284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D8"/>
                </a:solidFill>
              </a:rPr>
              <a:t>Tier 1 — Constraint Injection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" y="3584448"/>
            <a:ext cx="3749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Subtle drift in tone, policy compliance, or brand voice. Slow and hard to detect programmatically; requires human review pipelines.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4023360" cy="1737360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26080"/>
            <a:ext cx="64008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Tool Misuse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19472" y="33284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Kirkpatrick L3 · Behavior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19472" y="33284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A8D8"/>
                </a:solidFill>
              </a:rPr>
              <a:t>Tier 1 or Tier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19472" y="3584448"/>
            <a:ext cx="3749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Correct intent, incorrect tool invocation. Downstream action errors. Increasingly high-stakes as agents gain refund / ticket / API access.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APIP Lifecycle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A8D8"/>
                </a:solidFill>
              </a:rPr>
              <a:t>Five phases — grounded in organizational PIP research and Kirkpatrick's four-level evaluation model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508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15087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0700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9CF9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93192" y="17647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Trigger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2212848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Threshold crossing on behavioral contract metrics (absolute or drift)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56232" y="2697480"/>
            <a:ext cx="146304" cy="3657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29968" y="1188720"/>
            <a:ext cx="1508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29968" y="1188720"/>
            <a:ext cx="15087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9968" y="120700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9CF9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03120" y="17647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Cause Attribution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2212848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Classify failure mode before any intervention is applied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66160" y="2697480"/>
            <a:ext cx="146304" cy="3657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39896" y="1188720"/>
            <a:ext cx="1508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9896" y="1188720"/>
            <a:ext cx="15087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9896" y="120700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9CF9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13048" y="17647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Intervention Plan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13048" y="2212848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Select Tier 1/2/3 based on root cause, not habit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76088" y="2697480"/>
            <a:ext cx="146304" cy="3657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49824" y="1188720"/>
            <a:ext cx="1508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49824" y="1188720"/>
            <a:ext cx="15087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9824" y="120700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9CF9"/>
                </a:solidFill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22976" y="17647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Remediation Window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22976" y="2212848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Bounded window + 3 check-ins at 25%, 50%, 75%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86016" y="2697480"/>
            <a:ext cx="146304" cy="3657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59752" y="1188720"/>
            <a:ext cx="1508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59752" y="1188720"/>
            <a:ext cx="15087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9752" y="120700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9CF9"/>
                </a:solidFill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232904" y="17647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Exit Evaluation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32904" y="2212848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Resolved · Extended · Escalated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462272"/>
            <a:ext cx="82296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Key insight: cause attribution must precede intervention. Tier mismatch from misdiagnosis extends time-to-resolution by 2.1× on average.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Intervention Hierarchy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A8D8"/>
                </a:solidFill>
              </a:rPr>
              <a:t>Escalate only when lower tiers are exhausted within the remediation window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06040" cy="3703320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06040" cy="54864"/>
          </a:xfrm>
          <a:prstGeom prst="rect">
            <a:avLst/>
          </a:prstGeom>
          <a:solidFill>
            <a:srgbClr val="2EC486"/>
          </a:solidFill>
          <a:ln w="12700">
            <a:solidFill>
              <a:srgbClr val="2EC4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86"/>
                </a:solidFill>
              </a:rPr>
              <a:t>Tier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4813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Prompt-Level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A8D8"/>
                </a:solidFill>
              </a:rPr>
              <a:t>Low cost · Fast · Easy rollback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0352" y="2231136"/>
            <a:ext cx="54864" cy="201168"/>
          </a:xfrm>
          <a:prstGeom prst="rect">
            <a:avLst/>
          </a:prstGeom>
          <a:solidFill>
            <a:srgbClr val="2EC486"/>
          </a:solidFill>
          <a:ln w="12700">
            <a:solidFill>
              <a:srgbClr val="2EC4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Constraint injection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2633472"/>
            <a:ext cx="54864" cy="201168"/>
          </a:xfrm>
          <a:prstGeom prst="rect">
            <a:avLst/>
          </a:prstGeom>
          <a:solidFill>
            <a:srgbClr val="2EC486"/>
          </a:solidFill>
          <a:ln w="12700">
            <a:solidFill>
              <a:srgbClr val="2EC4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25968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Few-shot example replacement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3035808"/>
            <a:ext cx="54864" cy="201168"/>
          </a:xfrm>
          <a:prstGeom prst="rect">
            <a:avLst/>
          </a:prstGeom>
          <a:solidFill>
            <a:srgbClr val="2EC486"/>
          </a:solidFill>
          <a:ln w="12700">
            <a:solidFill>
              <a:srgbClr val="2EC4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2999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Persona adjustment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3438144"/>
            <a:ext cx="54864" cy="201168"/>
          </a:xfrm>
          <a:prstGeom prst="rect">
            <a:avLst/>
          </a:prstGeom>
          <a:solidFill>
            <a:srgbClr val="2EC486"/>
          </a:solidFill>
          <a:ln w="12700">
            <a:solidFill>
              <a:srgbClr val="2EC4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3401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Context window restructuring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3931920"/>
            <a:ext cx="2377440" cy="36576"/>
          </a:xfrm>
          <a:prstGeom prst="rect">
            <a:avLst/>
          </a:prstGeom>
          <a:solidFill>
            <a:srgbClr val="2EC486">
              <a:alpha val="50000"/>
            </a:srgbClr>
          </a:solidFill>
          <a:ln w="12700">
            <a:solidFill>
              <a:srgbClr val="2EC486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400507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486"/>
                </a:solidFill>
              </a:rPr>
              <a:t>USE WHEN: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" y="4187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8D8"/>
                </a:solidFill>
              </a:rPr>
              <a:t>Alignment Creep · Input Brittleness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1097280"/>
            <a:ext cx="2606040" cy="3703320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097280"/>
            <a:ext cx="260604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9CF9"/>
                </a:solidFill>
              </a:rPr>
              <a:t>Tier 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0128" y="14813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Retrieval &amp; Context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310128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A8D8"/>
                </a:solidFill>
              </a:rPr>
              <a:t>Moderate cost · Validation required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64992" y="2231136"/>
            <a:ext cx="54864" cy="20116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11296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RAG index refresh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64992" y="2633472"/>
            <a:ext cx="54864" cy="20116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11296" y="25968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Knowledge base revision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64992" y="3035808"/>
            <a:ext cx="54864" cy="20116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11296" y="2999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Tool schema update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64992" y="3438144"/>
            <a:ext cx="54864" cy="20116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11296" y="3401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Context injection pipeline change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10128" y="3931920"/>
            <a:ext cx="2377440" cy="36576"/>
          </a:xfrm>
          <a:prstGeom prst="rect">
            <a:avLst/>
          </a:prstGeom>
          <a:solidFill>
            <a:srgbClr val="4F9CF9">
              <a:alpha val="50000"/>
            </a:srgbClr>
          </a:solidFill>
          <a:ln w="12700">
            <a:solidFill>
              <a:srgbClr val="4F9CF9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400507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9CF9"/>
                </a:solidFill>
              </a:rPr>
              <a:t>USE WHEN: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10128" y="4187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8D8"/>
                </a:solidFill>
              </a:rPr>
              <a:t>Behavioral Drift · Tool Misuse (tool desc)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1097280"/>
            <a:ext cx="2606040" cy="3703320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1097280"/>
            <a:ext cx="2606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4768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Tier 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44768" y="14813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Model-Level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6144768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A8D8"/>
                </a:solidFill>
              </a:rPr>
              <a:t>High cost · High regression risk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99632" y="2231136"/>
            <a:ext cx="54864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45936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Fine-tuning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99632" y="2633472"/>
            <a:ext cx="54864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45936" y="25968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Direct preference optimization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99632" y="3035808"/>
            <a:ext cx="54864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45936" y="2999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Model version replacement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99632" y="3438144"/>
            <a:ext cx="54864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45936" y="3401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Full model retirement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44768" y="3931920"/>
            <a:ext cx="2377440" cy="36576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44768" y="400507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USE WHEN: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44768" y="4187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8D8"/>
                </a:solidFill>
              </a:rPr>
              <a:t>Failure embedded in weights · Tiers 1-2 exhausted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Evaluation: APIP vs. Ad-hoc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8D8"/>
                </a:solidFill>
              </a:rPr>
              <a:t>n=30 runs per failure mode · Deterministic scoring functions · Token, latency, and CSAT tracked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051560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89320" y="1051560"/>
            <a:ext cx="64008" cy="80467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44768" y="10881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5252"/>
                </a:solidFill>
              </a:rPr>
              <a:t>2.1×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144768" y="14721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Longer TTR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with ad-hoc remediation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89320" y="2011680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89320" y="201168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44768" y="20482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67%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144768" y="24323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Ad-hoc regression rate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(Behavioral Drift)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89320" y="2971800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89320" y="2971800"/>
            <a:ext cx="64008" cy="80467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44768" y="30083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9CF9"/>
                </a:solidFill>
              </a:rPr>
              <a:t>14 ticks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144768" y="33924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Hidden detection delay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for Input Brittleness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89320" y="3931920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89320" y="3931920"/>
            <a:ext cx="64008" cy="804672"/>
          </a:xfrm>
          <a:prstGeom prst="rect">
            <a:avLst/>
          </a:prstGeom>
          <a:solidFill>
            <a:srgbClr val="8EA8D8"/>
          </a:solidFill>
          <a:ln w="12700">
            <a:solidFill>
              <a:srgbClr val="8EA8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44768" y="39684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A8D8"/>
                </a:solidFill>
              </a:rPr>
              <a:t>$67.4B+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144768" y="43525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Industry cost of LLM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hallucinations in 2024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A8D8"/>
                </a:solidFill>
              </a:rPr>
              <a:t>Finding: token consumption and p95 latency increase before quality metrics breach — both are leading indicators of degradation.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Schema &amp; Governance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A8D8"/>
                </a:solidFill>
              </a:rPr>
              <a:t>Declarative APIP schema enables tooling integration, audit trail generation, and regulatory compliance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303520" cy="512064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7957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apip_id + agent_id + owner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9903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Accountability linkage required by FAccT 2024 visibility framework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5303520" cy="512064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739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behavioral_contract_ref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Enforces pre-deployment contract discipline — the foundational prerequisite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5303520" cy="512064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6829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failure_mode (enum)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8775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behavioral_drift | input_brittleness | alignment_creep | tool_misuse | exogenous_disruption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5303520" cy="512064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6265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kirkpatrick_levels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1821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Multi-level evaluation at each check-in distinguishes durable from superficial recovery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5303520" cy="512064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570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intervention_tier (enum)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7764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prompt_level | retrieval_level | model_level — selected by cause, not habit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5303520" cy="512064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5137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mesh_context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37083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Supports causal attribution in multi-agent deployments (companion paper)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1234440"/>
            <a:ext cx="2697480" cy="713232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1234440"/>
            <a:ext cx="54864" cy="71323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2893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9CF9"/>
                </a:solidFill>
              </a:rPr>
              <a:t>EU AI Act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15819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Post-market monitoring &amp; error traceability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103120"/>
            <a:ext cx="2697480" cy="713232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103120"/>
            <a:ext cx="54864" cy="7132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21579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</a:rPr>
              <a:t>FAccT 2024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24505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Kolt et al. — identifier, monitoring, logging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89320" y="2971800"/>
            <a:ext cx="2697480" cy="713232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9320" y="2971800"/>
            <a:ext cx="54864" cy="713232"/>
          </a:xfrm>
          <a:prstGeom prst="rect">
            <a:avLst/>
          </a:prstGeom>
          <a:solidFill>
            <a:srgbClr val="2EC486"/>
          </a:solidFill>
          <a:ln w="12700">
            <a:solidFill>
              <a:srgbClr val="2EC4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026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86"/>
                </a:solidFill>
              </a:rPr>
              <a:t>Brundage et al.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26480" y="33192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Verifiable claims require post-deployment mechanisms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89320" y="3840480"/>
            <a:ext cx="2697480" cy="713232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89320" y="3840480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38953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Wachter et al.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26480" y="418795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GDPR accountability requires traceable decisions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1E2761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Problems &amp;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1572768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157276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Behavioral Contract Tooling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Most teams skip the contract at deployment. Methodology and tooling needed.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3931920" cy="1572768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788920"/>
            <a:ext cx="64008" cy="1572768"/>
          </a:xfrm>
          <a:prstGeom prst="rect">
            <a:avLst/>
          </a:prstGeom>
          <a:solidFill>
            <a:srgbClr val="2EC486"/>
          </a:solidFill>
          <a:ln w="12700">
            <a:solidFill>
              <a:srgbClr val="2EC4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Automated Cause Attribution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LLM-as-judge pipelines to classify failure mode at scale without human review.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3931920" cy="1572768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05840"/>
            <a:ext cx="64008" cy="15727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43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Mesh Disruption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Locally optimal new agents degrade peer performance via shared context. Requires APIP extension.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788920"/>
            <a:ext cx="3931920" cy="1572768"/>
          </a:xfrm>
          <a:prstGeom prst="rect">
            <a:avLst/>
          </a:prstGeom>
          <a:solidFill>
            <a:srgbClr val="243377"/>
          </a:solidFill>
          <a:ln w="12700">
            <a:solidFill>
              <a:srgbClr val="243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788920"/>
            <a:ext cx="64008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926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Organizational Ownership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3375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Who owns the APIP? ML eng, product, legal, ops all have stake. No clear model yet.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636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Thesis: Deployed agents deserve the same accountability structures as deployed humans. Structure remediation deliberately — before regulation makes it mandatory.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Agent is Underperforming: The Case for APIPs</dc:title>
  <dc:subject>PptxGenJS Presentation</dc:subject>
  <dc:creator>PptxGenJS</dc:creator>
  <cp:lastModifiedBy>PptxGenJS</cp:lastModifiedBy>
  <cp:revision>1</cp:revision>
  <dcterms:created xsi:type="dcterms:W3CDTF">2026-04-19T19:37:10Z</dcterms:created>
  <dcterms:modified xsi:type="dcterms:W3CDTF">2026-04-19T19:37:10Z</dcterms:modified>
</cp:coreProperties>
</file>