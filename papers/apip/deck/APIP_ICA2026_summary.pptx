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9a0f3ce0-917d-039d-29ad-5899c52d604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summary of the APIP paper accepted at IEEE ICA 2026 (paper #238). Left: the problem and the five-phase lifecycle plus the failure-mode taxonomy and tier model. Right: Table II (the tau2-bench drift cell) plus the attribution and mesh results. Bottom: the paper's central claim about durability vs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115568"/>
            <a:ext cx="112745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Harney et al., IEEE International Conference on Agentic AI (ICA) 2026, Kumamoto. Paper #238.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Your Agent is Underperforming: The Case for Agent Performance Improvement Plans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11556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governed post-deployment remediation lifecycle for AI agents, adapted from the HR performance improvement plan (PIP).</a:t>
            </a:r>
            <a:endParaRPr lang="en-US" sz="1400" dirty="0"/>
          </a:p>
        </p:txBody>
      </p:sp>
      <p:sp>
        <p:nvSpPr>
          <p:cNvPr id="4" name="The gap"/>
          <p:cNvSpPr txBox="1"/>
          <p:nvPr/>
        </p:nvSpPr>
        <p:spPr>
          <a:xfrm>
            <a:off x="457200" y="157276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gap.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Pre-release evaluation is standardized; the response to degradation after deployment is not. 94% of 413 surveyed practitioners report Day-2 issues, and teams patch prompts ad hoc with no record of what was tried or whether it held.</a:t>
            </a:r>
            <a:endParaRPr lang="en-US" sz="1300" dirty="0"/>
          </a:p>
        </p:txBody>
      </p:sp>
      <p:sp>
        <p:nvSpPr>
          <p:cNvPr id="5" name="Lifecycle heading"/>
          <p:cNvSpPr txBox="1"/>
          <p:nvPr/>
        </p:nvSpPr>
        <p:spPr>
          <a:xfrm>
            <a:off x="457200" y="2286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APIP lifecycle</a:t>
            </a:r>
            <a:endParaRPr lang="en-US" sz="1600" dirty="0"/>
          </a:p>
        </p:txBody>
      </p:sp>
      <p:sp>
        <p:nvSpPr>
          <p:cNvPr id="6" name="Phase 1 chevron"/>
          <p:cNvSpPr/>
          <p:nvPr/>
        </p:nvSpPr>
        <p:spPr>
          <a:xfrm>
            <a:off x="457200" y="2633472"/>
            <a:ext cx="1316736" cy="384048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Phase 1 label"/>
          <p:cNvSpPr txBox="1"/>
          <p:nvPr/>
        </p:nvSpPr>
        <p:spPr>
          <a:xfrm>
            <a:off x="566928" y="263347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Trigger</a:t>
            </a:r>
            <a:endParaRPr lang="en-US" sz="1200" dirty="0"/>
          </a:p>
        </p:txBody>
      </p:sp>
      <p:sp>
        <p:nvSpPr>
          <p:cNvPr id="8" name="Phase 1 text"/>
          <p:cNvSpPr txBox="1"/>
          <p:nvPr/>
        </p:nvSpPr>
        <p:spPr>
          <a:xfrm>
            <a:off x="457200" y="3090672"/>
            <a:ext cx="1316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Two-gate breach of the behavioral contract: effect size and corrected significance</a:t>
            </a:r>
            <a:endParaRPr lang="en-US" sz="1050" dirty="0"/>
          </a:p>
        </p:txBody>
      </p:sp>
      <p:sp>
        <p:nvSpPr>
          <p:cNvPr id="9" name="Phase 2 chevron"/>
          <p:cNvSpPr/>
          <p:nvPr/>
        </p:nvSpPr>
        <p:spPr>
          <a:xfrm>
            <a:off x="1865376" y="2633472"/>
            <a:ext cx="1316736" cy="384048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Phase 2 label"/>
          <p:cNvSpPr txBox="1"/>
          <p:nvPr/>
        </p:nvSpPr>
        <p:spPr>
          <a:xfrm>
            <a:off x="1975104" y="263347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Attribute</a:t>
            </a:r>
            <a:endParaRPr lang="en-US" sz="1200" dirty="0"/>
          </a:p>
        </p:txBody>
      </p:sp>
      <p:sp>
        <p:nvSpPr>
          <p:cNvPr id="11" name="Phase 2 text"/>
          <p:cNvSpPr txBox="1"/>
          <p:nvPr/>
        </p:nvSpPr>
        <p:spPr>
          <a:xfrm>
            <a:off x="1865376" y="3090672"/>
            <a:ext cx="1316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Map MAST clusters and signatures to one of five failure modes, or abstain</a:t>
            </a:r>
            <a:endParaRPr lang="en-US" sz="1050" dirty="0"/>
          </a:p>
        </p:txBody>
      </p:sp>
      <p:sp>
        <p:nvSpPr>
          <p:cNvPr id="12" name="Phase 3 chevron"/>
          <p:cNvSpPr/>
          <p:nvPr/>
        </p:nvSpPr>
        <p:spPr>
          <a:xfrm>
            <a:off x="3273552" y="2633472"/>
            <a:ext cx="1316736" cy="384048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Phase 3 label"/>
          <p:cNvSpPr txBox="1"/>
          <p:nvPr/>
        </p:nvSpPr>
        <p:spPr>
          <a:xfrm>
            <a:off x="3383280" y="263347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Plan</a:t>
            </a:r>
            <a:endParaRPr lang="en-US" sz="1200" dirty="0"/>
          </a:p>
        </p:txBody>
      </p:sp>
      <p:sp>
        <p:nvSpPr>
          <p:cNvPr id="14" name="Phase 3 text"/>
          <p:cNvSpPr txBox="1"/>
          <p:nvPr/>
        </p:nvSpPr>
        <p:spPr>
          <a:xfrm>
            <a:off x="3273552" y="3090672"/>
            <a:ext cx="1316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Pick the intervention tier; escalate within the window</a:t>
            </a:r>
            <a:endParaRPr lang="en-US" sz="1050" dirty="0"/>
          </a:p>
        </p:txBody>
      </p:sp>
      <p:sp>
        <p:nvSpPr>
          <p:cNvPr id="15" name="Phase 4 chevron"/>
          <p:cNvSpPr/>
          <p:nvPr/>
        </p:nvSpPr>
        <p:spPr>
          <a:xfrm>
            <a:off x="4681728" y="2633472"/>
            <a:ext cx="1316736" cy="384048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Phase 4 label"/>
          <p:cNvSpPr txBox="1"/>
          <p:nvPr/>
        </p:nvSpPr>
        <p:spPr>
          <a:xfrm>
            <a:off x="4791456" y="263347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 Window</a:t>
            </a:r>
            <a:endParaRPr lang="en-US" sz="1200" dirty="0"/>
          </a:p>
        </p:txBody>
      </p:sp>
      <p:sp>
        <p:nvSpPr>
          <p:cNvPr id="17" name="Phase 4 text"/>
          <p:cNvSpPr txBox="1"/>
          <p:nvPr/>
        </p:nvSpPr>
        <p:spPr>
          <a:xfrm>
            <a:off x="4681728" y="3090672"/>
            <a:ext cx="1316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Bounded remediation; check-ins at 25 / 50 / 75%</a:t>
            </a:r>
            <a:endParaRPr lang="en-US" sz="1050" dirty="0"/>
          </a:p>
        </p:txBody>
      </p:sp>
      <p:sp>
        <p:nvSpPr>
          <p:cNvPr id="18" name="Phase 5 chevron"/>
          <p:cNvSpPr/>
          <p:nvPr/>
        </p:nvSpPr>
        <p:spPr>
          <a:xfrm>
            <a:off x="6089904" y="2633472"/>
            <a:ext cx="1316736" cy="384048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Phase 5 label"/>
          <p:cNvSpPr txBox="1"/>
          <p:nvPr/>
        </p:nvSpPr>
        <p:spPr>
          <a:xfrm>
            <a:off x="6199632" y="263347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 Exit</a:t>
            </a:r>
            <a:endParaRPr lang="en-US" sz="1200" dirty="0"/>
          </a:p>
        </p:txBody>
      </p:sp>
      <p:sp>
        <p:nvSpPr>
          <p:cNvPr id="20" name="Phase 5 text"/>
          <p:cNvSpPr txBox="1"/>
          <p:nvPr/>
        </p:nvSpPr>
        <p:spPr>
          <a:xfrm>
            <a:off x="6089904" y="3090672"/>
            <a:ext cx="1316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Re-measure the contract envelope; re-breach reopens Phase 1</a:t>
            </a:r>
            <a:endParaRPr lang="en-US" sz="1050" dirty="0"/>
          </a:p>
        </p:txBody>
      </p:sp>
      <p:sp>
        <p:nvSpPr>
          <p:cNvPr id="21" name="Taxonomy heading"/>
          <p:cNvSpPr txBox="1"/>
          <p:nvPr/>
        </p:nvSpPr>
        <p:spPr>
          <a:xfrm>
            <a:off x="45720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Five failure modes, three intervention tiers</a:t>
            </a:r>
            <a:endParaRPr lang="en-US" sz="1600" dirty="0"/>
          </a:p>
        </p:txBody>
      </p:sp>
      <p:graphicFrame>
        <p:nvGraphicFramePr>
          <p:cNvPr id="2" name="Taxonom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70832"/>
          <a:ext cx="6858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21945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Failure mode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Signal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Starting tier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Behavioral drift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World moves, corpus frozen; stale citations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Tier 2: retrieval refresh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Input brittleness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Bimodal success clustered by input segment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Tier 1, else Tier 3 fine-tune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Alignment creep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Tone or policy compliance erodes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Tier 1: prompt constraints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Tool misuse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Right intent, wrong invocation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Tier 1 prompt, else Tier 3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Exogenous disruption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Peers degrade after a mesh change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Mesh protocol</a:t>
                      </a:r>
                      <a:endParaRPr lang="en-US" sz="1050" dirty="0"/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Results card"/>
          <p:cNvSpPr/>
          <p:nvPr/>
        </p:nvSpPr>
        <p:spPr>
          <a:xfrm>
            <a:off x="7589520" y="1572768"/>
            <a:ext cx="4142232" cy="4389120"/>
          </a:xfrm>
          <a:prstGeom prst="roundRect">
            <a:avLst>
              <a:gd name="adj" fmla="val 2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able II heading"/>
          <p:cNvSpPr txBox="1"/>
          <p:nvPr/>
        </p:nvSpPr>
        <p:spPr>
          <a:xfrm>
            <a:off x="7726680" y="16916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Table II. τ²-bench drift cell, seed 13 (ticks)</a:t>
            </a:r>
            <a:endParaRPr lang="en-US" sz="1300" dirty="0"/>
          </a:p>
        </p:txBody>
      </p:sp>
      <p:graphicFrame>
        <p:nvGraphicFramePr>
          <p:cNvPr id="3" name="Table 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2103120"/>
          <a:ext cx="386791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65760"/>
                <a:gridCol w="365760"/>
                <a:gridCol w="365760"/>
                <a:gridCol w="868680"/>
                <a:gridCol w="365760"/>
                <a:gridCol w="713232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Cond.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Det.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Exit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TTR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Cyc.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Outcome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oracle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resolved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APIP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resolved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undiagnosed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2, 4, 2, n/a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4"/>
                          </a:solidFill>
                        </a:rPr>
                        <a:t>timeout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no-action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4"/>
                          </a:solidFill>
                        </a:rPr>
                        <a:t>timeout</a:t>
                      </a:r>
                      <a:endParaRPr lang="en-US" sz="950" dirty="0"/>
                    </a:p>
                  </a:txBody>
                  <a:tcPr marL="36576" marR="36576" marT="18288" marB="18288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able II caption"/>
          <p:cNvSpPr txBox="1"/>
          <p:nvPr/>
        </p:nvSpPr>
        <p:spPr>
          <a:xfrm>
            <a:off x="7726680" y="3310128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Det. = two-gate breach, Act = intervention, Exit = exit evaluation, TTR = Exit − Det. (undiagnosed listed per cycle). All conditions share one injection schedule and task stream.</a:t>
            </a:r>
            <a:endParaRPr lang="en-US" sz="900" dirty="0"/>
          </a:p>
        </p:txBody>
      </p:sp>
      <p:sp>
        <p:nvSpPr>
          <p:cNvPr id="27" name="Stat 1"/>
          <p:cNvSpPr txBox="1"/>
          <p:nvPr/>
        </p:nvSpPr>
        <p:spPr>
          <a:xfrm>
            <a:off x="7726680" y="384048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 patches, 3 regressions</a:t>
            </a:r>
            <a:endParaRPr lang="en-US" sz="1800" dirty="0"/>
          </a:p>
        </p:txBody>
      </p:sp>
      <p:sp>
        <p:nvSpPr>
          <p:cNvPr id="28" name="Stat 1 caption"/>
          <p:cNvSpPr txBox="1"/>
          <p:nvPr/>
        </p:nvSpPr>
        <p:spPr>
          <a:xfrm>
            <a:off x="7726680" y="4151376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Undiagnosed scored 4× better on per-cycle TTR, then timed out indistinguishable from no-action.</a:t>
            </a:r>
            <a:endParaRPr lang="en-US" sz="1000" dirty="0"/>
          </a:p>
        </p:txBody>
      </p:sp>
      <p:sp>
        <p:nvSpPr>
          <p:cNvPr id="29" name="Stat 2"/>
          <p:cNvSpPr txBox="1"/>
          <p:nvPr/>
        </p:nvSpPr>
        <p:spPr>
          <a:xfrm>
            <a:off x="7726680" y="4553712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 of 3 attributions correct</a:t>
            </a:r>
            <a:endParaRPr lang="en-US" sz="1800" dirty="0"/>
          </a:p>
        </p:txBody>
      </p:sp>
      <p:sp>
        <p:nvSpPr>
          <p:cNvPr id="30" name="Stat 2 caption"/>
          <p:cNvSpPr txBox="1"/>
          <p:nvPr/>
        </p:nvSpPr>
        <p:spPr>
          <a:xfrm>
            <a:off x="7726680" y="4864608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Every APIP attribution matched the injected failure mode; it abstained when evidence was thin.</a:t>
            </a:r>
            <a:endParaRPr lang="en-US" sz="1000" dirty="0"/>
          </a:p>
        </p:txBody>
      </p:sp>
      <p:sp>
        <p:nvSpPr>
          <p:cNvPr id="31" name="Stat 3"/>
          <p:cNvSpPr txBox="1"/>
          <p:nvPr/>
        </p:nvSpPr>
        <p:spPr>
          <a:xfrm>
            <a:off x="7726680" y="526694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 peers degraded</a:t>
            </a:r>
            <a:endParaRPr lang="en-US" sz="1800" dirty="0"/>
          </a:p>
        </p:txBody>
      </p:sp>
      <p:sp>
        <p:nvSpPr>
          <p:cNvPr id="32" name="Stat 3 caption"/>
          <p:cNvSpPr txBox="1"/>
          <p:nvPr/>
        </p:nvSpPr>
        <p:spPr>
          <a:xfrm>
            <a:off x="7726680" y="55778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Mesh insertion of a specialist disrupted no one (ChatDev); bounded shared context may be a precondition.</a:t>
            </a:r>
            <a:endParaRPr lang="en-US" sz="1000" dirty="0"/>
          </a:p>
        </p:txBody>
      </p:sp>
      <p:sp>
        <p:nvSpPr>
          <p:cNvPr id="33" name="Takeaway"/>
          <p:cNvSpPr txBox="1"/>
          <p:nvPr/>
        </p:nvSpPr>
        <p:spPr>
          <a:xfrm>
            <a:off x="457200" y="5989320"/>
            <a:ext cx="11274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Takeaway: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recovery means a durable return to contract, not intervention completion or speed. A scorecard that rewards time-to-resolution without durability prefers the worst strategy.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IP">
  <a:themeElements>
    <a:clrScheme name="APIP">
      <a:dk1>
        <a:srgbClr val="1F2F3D"/>
      </a:dk1>
      <a:lt1>
        <a:srgbClr val="FFFFFF"/>
      </a:lt1>
      <a:dk2>
        <a:srgbClr val="0E5C6B"/>
      </a:dk2>
      <a:lt2>
        <a:srgbClr val="EAF2F4"/>
      </a:lt2>
      <a:accent1>
        <a:srgbClr val="0E5C6B"/>
      </a:accent1>
      <a:accent2>
        <a:srgbClr val="D98A2B"/>
      </a:accent2>
      <a:accent3>
        <a:srgbClr val="5B7C8A"/>
      </a:accent3>
      <a:accent4>
        <a:srgbClr val="A63D40"/>
      </a:accent4>
      <a:accent5>
        <a:srgbClr val="7FB0B8"/>
      </a:accent5>
      <a:accent6>
        <a:srgbClr val="C9D6DA"/>
      </a:accent6>
      <a:hlink>
        <a:srgbClr val="0E5C6B"/>
      </a:hlink>
      <a:folHlink>
        <a:srgbClr val="5B7C8A"/>
      </a:folHlink>
    </a:clrScheme>
    <a:fontScheme name="API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APIP: Agent Performance Improvement Plans</dc:title>
  <dc:subject>PptxGenJS Presentation</dc:subject>
  <dc:creator>John Harney</dc:creator>
  <cp:lastModifiedBy>John Harney</cp:lastModifiedBy>
  <cp:revision>1</cp:revision>
  <dcterms:created xsi:type="dcterms:W3CDTF">2026-10-26T00:46:37Z</dcterms:created>
  <dcterms:modified xsi:type="dcterms:W3CDTF">2026-10-26T00:46:37Z</dcterms:modified>
</cp:coreProperties>
</file>